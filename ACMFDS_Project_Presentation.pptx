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DF1653-32DD-4638-8924-A43E274A037C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8FD5A8-BD6D-4B68-8F25-4D3BB5E56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887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8FD5A8-BD6D-4B68-8F25-4D3BB5E56D3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893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178" y="400956"/>
            <a:ext cx="5779008" cy="5440680"/>
          </a:xfrm>
          <a:prstGeom prst="roundRect">
            <a:avLst>
              <a:gd name="adj" fmla="val 6000"/>
            </a:avLst>
          </a:prstGeom>
          <a:noFill/>
          <a:ln w="1397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5269" y="2910543"/>
            <a:ext cx="5212080" cy="1554465"/>
          </a:xfrm>
          <a:prstGeom prst="roundRect">
            <a:avLst>
              <a:gd name="adj" fmla="val 10000"/>
            </a:avLst>
          </a:prstGeom>
          <a:solidFill>
            <a:srgbClr val="0B2027"/>
          </a:solidFill>
          <a:ln w="889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694944"/>
            <a:ext cx="1901952" cy="274320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8890">
            <a:solidFill>
              <a:srgbClr val="48F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736092"/>
            <a:ext cx="1792224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8F3B8"/>
                </a:solidFill>
                <a:latin typeface="Aptos"/>
              </a:rPr>
              <a:t>PROJECT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177084"/>
            <a:ext cx="4800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 dirty="0">
                <a:solidFill>
                  <a:srgbClr val="48F3B8"/>
                </a:solidFill>
                <a:latin typeface="Aptos Display"/>
              </a:rPr>
              <a:t>Adaptive Context-Aware
Multi-Objective Flight
Decision Algorithm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443268"/>
            <a:ext cx="47548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98B0B4"/>
                </a:solidFill>
                <a:latin typeface="Aptos"/>
              </a:rPr>
              <a:t>Context detection  •  Adaptive priorities  •  Obstacle-aware navigation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5175504"/>
            <a:ext cx="4754880" cy="0"/>
          </a:xfrm>
          <a:prstGeom prst="line">
            <a:avLst/>
          </a:prstGeom>
          <a:ln w="13970">
            <a:solidFill>
              <a:srgbClr val="234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32794" y="3256888"/>
            <a:ext cx="498348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EAF4F2"/>
                </a:solidFill>
                <a:latin typeface="Aptos"/>
              </a:rPr>
              <a:t>22AIE448  |  Introduction to Data Driven Control of Drones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5586291"/>
            <a:ext cx="47548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98B0B4"/>
                </a:solidFill>
                <a:latin typeface="Aptos"/>
              </a:rPr>
              <a:t>Team project  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37392" y="653796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48F3B8"/>
                </a:solidFill>
                <a:latin typeface="Aptos"/>
              </a:rPr>
              <a:t>01</a:t>
            </a:r>
          </a:p>
        </p:txBody>
      </p:sp>
      <p:sp>
        <p:nvSpPr>
          <p:cNvPr id="24" name="Rounded Rectangle 4">
            <a:extLst>
              <a:ext uri="{FF2B5EF4-FFF2-40B4-BE49-F238E27FC236}">
                <a16:creationId xmlns:a16="http://schemas.microsoft.com/office/drawing/2014/main" id="{BDB1319B-220A-5DFE-CCF1-7C795F131E64}"/>
              </a:ext>
            </a:extLst>
          </p:cNvPr>
          <p:cNvSpPr/>
          <p:nvPr/>
        </p:nvSpPr>
        <p:spPr>
          <a:xfrm>
            <a:off x="6572940" y="1985776"/>
            <a:ext cx="5015484" cy="2271039"/>
          </a:xfrm>
          <a:prstGeom prst="roundRect">
            <a:avLst>
              <a:gd name="adj" fmla="val 10000"/>
            </a:avLst>
          </a:prstGeom>
          <a:solidFill>
            <a:srgbClr val="0B2027"/>
          </a:solidFill>
          <a:ln w="889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TEAM MATES:</a:t>
            </a:r>
          </a:p>
          <a:p>
            <a:r>
              <a:rPr lang="en-IN" dirty="0"/>
              <a:t>DEEPIKA  REDDY –CB.SC.U4AIE24215</a:t>
            </a:r>
          </a:p>
          <a:p>
            <a:r>
              <a:rPr lang="en-IN" dirty="0"/>
              <a:t>G.VARSHINI  -CB.SC.U4AIE24216</a:t>
            </a:r>
          </a:p>
          <a:p>
            <a:r>
              <a:rPr lang="en-IN" dirty="0"/>
              <a:t>JOVIKA NB – CB.SC.U4AIE24223</a:t>
            </a:r>
          </a:p>
          <a:p>
            <a:r>
              <a:rPr lang="en-IN" dirty="0"/>
              <a:t>P POOJITHA –CB.SC.U4AIE24237</a:t>
            </a:r>
          </a:p>
          <a:p>
            <a:r>
              <a:rPr lang="en-IN" dirty="0"/>
              <a:t>POTNURU VARUN – CB.SC.UAAIE24244</a:t>
            </a:r>
          </a:p>
          <a:p>
            <a:pPr algn="ctr"/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943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4231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2519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807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095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383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5671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" y="13258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" y="31546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4320" y="49834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2064" y="265176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8F3B8"/>
                </a:solidFill>
                <a:latin typeface="Aptos"/>
              </a:rPr>
              <a:t>01 / OVERVIEW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234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0352" y="656539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8B0B4"/>
                </a:solidFill>
                <a:latin typeface="Aptos"/>
              </a:rPr>
              <a:t>ACMFDS  /  PYTHON SIMULATION 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547104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48F3B8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30352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AF4F2"/>
                </a:solidFill>
                <a:latin typeface="Aptos Display"/>
              </a:rPr>
              <a:t>A drone should choose how to fly — not only where to fly.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051560"/>
            <a:ext cx="10835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8B0B4"/>
                </a:solidFill>
                <a:latin typeface="Aptos"/>
              </a:rPr>
              <a:t>ACMFDS translates changing mission conditions into explainable flight decisions.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691640"/>
            <a:ext cx="4663440" cy="4206240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1143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196596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8F3B8"/>
                </a:solidFill>
                <a:latin typeface="Aptos"/>
              </a:rPr>
              <a:t>THE CORE IDEA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395728"/>
            <a:ext cx="3977639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EAF4F2"/>
                </a:solidFill>
                <a:latin typeface="Aptos Display"/>
              </a:rPr>
              <a:t>Re-evaluate the mission
as conditions change.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694176"/>
            <a:ext cx="38862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8B0B4"/>
                </a:solidFill>
                <a:latin typeface="Aptos"/>
              </a:rPr>
              <a:t>The simulation exposes the inputs, selected context, objective priorities and route-safety outcome so a reviewer can inspect why the drone behaves differently.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5257800"/>
            <a:ext cx="1143000" cy="274320"/>
          </a:xfrm>
          <a:prstGeom prst="roundRect">
            <a:avLst>
              <a:gd name="adj" fmla="val 10000"/>
            </a:avLst>
          </a:prstGeom>
          <a:solidFill>
            <a:srgbClr val="102F37"/>
          </a:solidFill>
          <a:ln w="8890">
            <a:solidFill>
              <a:srgbClr val="48F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5298948"/>
            <a:ext cx="1033271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48F3B8"/>
                </a:solidFill>
                <a:latin typeface="Aptos"/>
              </a:rPr>
              <a:t>VISIBLE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9696" y="5257800"/>
            <a:ext cx="1143000" cy="274320"/>
          </a:xfrm>
          <a:prstGeom prst="roundRect">
            <a:avLst>
              <a:gd name="adj" fmla="val 10000"/>
            </a:avLst>
          </a:prstGeom>
          <a:solidFill>
            <a:srgbClr val="102F37"/>
          </a:solidFill>
          <a:ln w="8890">
            <a:solidFill>
              <a:srgbClr val="45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94560" y="5298948"/>
            <a:ext cx="1033271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45D5E7"/>
                </a:solidFill>
                <a:latin typeface="Aptos"/>
              </a:rPr>
              <a:t>ADAPTIVE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38144" y="5257800"/>
            <a:ext cx="1143000" cy="274320"/>
          </a:xfrm>
          <a:prstGeom prst="roundRect">
            <a:avLst>
              <a:gd name="adj" fmla="val 10000"/>
            </a:avLst>
          </a:prstGeom>
          <a:solidFill>
            <a:srgbClr val="102F37"/>
          </a:solidFill>
          <a:ln w="8890"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93008" y="5298948"/>
            <a:ext cx="1033271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B35C"/>
                </a:solidFill>
                <a:latin typeface="Aptos"/>
              </a:rPr>
              <a:t>TESTABLE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59552" y="1755648"/>
            <a:ext cx="4937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98B0B4"/>
                </a:solidFill>
                <a:latin typeface="Aptos"/>
              </a:rPr>
              <a:t>FROM INPUTS TO MOVEMENT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96128" y="2139696"/>
            <a:ext cx="5468112" cy="612648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889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97296" y="2295144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5D5E7"/>
                </a:solidFill>
                <a:latin typeface="Aptos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221991"/>
            <a:ext cx="1965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AF4F2"/>
                </a:solidFill>
                <a:latin typeface="Aptos"/>
              </a:rPr>
              <a:t>Mission inputs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2249424"/>
            <a:ext cx="24871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8B0B4"/>
                </a:solidFill>
                <a:latin typeface="Aptos"/>
              </a:rPr>
              <a:t>Battery • wind • goal • duration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229600" y="2752344"/>
            <a:ext cx="0" cy="201168"/>
          </a:xfrm>
          <a:prstGeom prst="line">
            <a:avLst/>
          </a:prstGeom>
          <a:ln w="13970">
            <a:solidFill>
              <a:srgbClr val="3763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596128" y="2953512"/>
            <a:ext cx="5468112" cy="612648"/>
          </a:xfrm>
          <a:prstGeom prst="roundRect">
            <a:avLst>
              <a:gd name="adj" fmla="val 10000"/>
            </a:avLst>
          </a:prstGeom>
          <a:solidFill>
            <a:srgbClr val="102F37"/>
          </a:solidFill>
          <a:ln w="889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797296" y="3108960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8F3B8"/>
                </a:solidFill>
                <a:latin typeface="Aptos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035808"/>
            <a:ext cx="1965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AF4F2"/>
                </a:solidFill>
                <a:latin typeface="Aptos"/>
              </a:rPr>
              <a:t>Decision layer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4464" y="3063240"/>
            <a:ext cx="24871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8B0B4"/>
                </a:solidFill>
                <a:latin typeface="Aptos"/>
              </a:rPr>
              <a:t>Context • effective weights • action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229600" y="3566160"/>
            <a:ext cx="0" cy="201168"/>
          </a:xfrm>
          <a:prstGeom prst="line">
            <a:avLst/>
          </a:prstGeom>
          <a:ln w="13970">
            <a:solidFill>
              <a:srgbClr val="3763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596128" y="3767328"/>
            <a:ext cx="5468112" cy="612648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889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797296" y="3922776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B35C"/>
                </a:solidFill>
                <a:latin typeface="Aptos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3849624"/>
            <a:ext cx="1965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AF4F2"/>
                </a:solidFill>
                <a:latin typeface="Aptos"/>
              </a:rPr>
              <a:t>Route &amp; safety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4" y="3877056"/>
            <a:ext cx="24871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8B0B4"/>
                </a:solidFill>
                <a:latin typeface="Aptos"/>
              </a:rPr>
              <a:t>Check clearance • accept / stop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229600" y="4379976"/>
            <a:ext cx="0" cy="201168"/>
          </a:xfrm>
          <a:prstGeom prst="line">
            <a:avLst/>
          </a:prstGeom>
          <a:ln w="13970">
            <a:solidFill>
              <a:srgbClr val="3763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596128" y="4581144"/>
            <a:ext cx="5468112" cy="612648"/>
          </a:xfrm>
          <a:prstGeom prst="roundRect">
            <a:avLst>
              <a:gd name="adj" fmla="val 10000"/>
            </a:avLst>
          </a:prstGeom>
          <a:solidFill>
            <a:srgbClr val="102F37"/>
          </a:solidFill>
          <a:ln w="889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97296" y="4736592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8F3B8"/>
                </a:solidFill>
                <a:latin typeface="Aptos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4663440"/>
            <a:ext cx="1965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AF4F2"/>
                </a:solidFill>
                <a:latin typeface="Aptos"/>
              </a:rPr>
              <a:t>Simulation output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4690872"/>
            <a:ext cx="24871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8B0B4"/>
                </a:solidFill>
                <a:latin typeface="Aptos"/>
              </a:rPr>
              <a:t>Drone position • status • telemetry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60" y="5586984"/>
            <a:ext cx="5532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5D5E7"/>
                </a:solidFill>
                <a:latin typeface="Aptos"/>
              </a:rPr>
              <a:t>Design principle: UI controls and displayed telemetry must reflect the same simulation state.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943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4231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2519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807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095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383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5671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" y="13258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" y="31546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4320" y="49834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2064" y="265176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8F3B8"/>
                </a:solidFill>
                <a:latin typeface="Aptos"/>
              </a:rPr>
              <a:t>02 / PROBLEM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234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0352" y="656539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8B0B4"/>
                </a:solidFill>
                <a:latin typeface="Aptos"/>
              </a:rPr>
              <a:t>ACMFDS  /  PYTHON SIMULATION 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547104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48F3B8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30352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AF4F2"/>
                </a:solidFill>
                <a:latin typeface="Aptos Display"/>
              </a:rPr>
              <a:t>Why context-aware flight decisions matter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051560"/>
            <a:ext cx="10835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8B0B4"/>
                </a:solidFill>
                <a:latin typeface="Aptos"/>
              </a:rPr>
              <a:t>The problem is a changing environment with competing objectives and a need for observable, defensible behavior.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1874519"/>
            <a:ext cx="3438144" cy="1874519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1016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211226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45D5E7"/>
                </a:solidFill>
                <a:latin typeface="Aptos Display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2084831"/>
            <a:ext cx="24048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AF4F2"/>
                </a:solidFill>
                <a:latin typeface="Aptos"/>
              </a:rPr>
              <a:t>Changing environment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2706624"/>
            <a:ext cx="294436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8B0B4"/>
                </a:solidFill>
                <a:latin typeface="Aptos"/>
              </a:rPr>
              <a:t>A moving obstacle can make a previously clear corridor unsafe.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4256" y="1874519"/>
            <a:ext cx="3438144" cy="1874519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1016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35424" y="211226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B35C"/>
                </a:solidFill>
                <a:latin typeface="Aptos Display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11496" y="2084831"/>
            <a:ext cx="24048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AF4F2"/>
                </a:solidFill>
                <a:latin typeface="Aptos"/>
              </a:rPr>
              <a:t>Conflicting objectives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2706624"/>
            <a:ext cx="294436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8B0B4"/>
                </a:solidFill>
                <a:latin typeface="Aptos"/>
              </a:rPr>
              <a:t>A short route may be fast but unsafe; a detour may be safer but cost more time and energy.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3" y="1874519"/>
            <a:ext cx="3438144" cy="1874519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1016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02752" y="211226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6476"/>
                </a:solidFill>
                <a:latin typeface="Aptos Display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2084831"/>
            <a:ext cx="24048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AF4F2"/>
                </a:solidFill>
                <a:latin typeface="Aptos"/>
              </a:rPr>
              <a:t>Limited explainability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706624"/>
            <a:ext cx="294436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8B0B4"/>
                </a:solidFill>
                <a:latin typeface="Aptos"/>
              </a:rPr>
              <a:t>A mode label alone does not prove that the drone followed a safe route.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069080"/>
            <a:ext cx="6766560" cy="1600200"/>
          </a:xfrm>
          <a:prstGeom prst="roundRect">
            <a:avLst>
              <a:gd name="adj" fmla="val 10000"/>
            </a:avLst>
          </a:prstGeom>
          <a:solidFill>
            <a:srgbClr val="102F37"/>
          </a:solidFill>
          <a:ln w="1016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4315968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8F3B8"/>
                </a:solidFill>
                <a:latin typeface="Aptos"/>
              </a:rPr>
              <a:t>PROJECT PROBLEM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681728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EAF4F2"/>
                </a:solidFill>
                <a:latin typeface="Aptos"/>
              </a:rPr>
              <a:t>How can a UAV simulation reassess its context and select a safe, efficient action when mission conditions change?</a:t>
            </a:r>
          </a:p>
        </p:txBody>
      </p:sp>
      <p:pic>
        <p:nvPicPr>
          <p:cNvPr id="34" name="Picture 33" descr="image(20261016-122447).png"/>
          <p:cNvPicPr>
            <a:picLocks noChangeAspect="1"/>
          </p:cNvPicPr>
          <p:nvPr/>
        </p:nvPicPr>
        <p:blipFill>
          <a:blip r:embed="rId2"/>
          <a:srcRect t="23468" b="23468"/>
          <a:stretch>
            <a:fillRect/>
          </a:stretch>
        </p:blipFill>
        <p:spPr>
          <a:xfrm>
            <a:off x="7589520" y="4069080"/>
            <a:ext cx="4050791" cy="160020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7589520" y="4069080"/>
            <a:ext cx="4050791" cy="1600200"/>
          </a:xfrm>
          <a:prstGeom prst="roundRect">
            <a:avLst>
              <a:gd name="adj" fmla="val 6000"/>
            </a:avLst>
          </a:prstGeom>
          <a:noFill/>
          <a:ln w="889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16952" y="5733288"/>
            <a:ext cx="39776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98B0B4"/>
                </a:solidFill>
                <a:latin typeface="Aptos"/>
              </a:rPr>
              <a:t>Illustrative city-flight environment supplied as a visual reference.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943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4231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2519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807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095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383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5671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" y="13258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" y="31546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4320" y="49834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2064" y="265176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8F3B8"/>
                </a:solidFill>
                <a:latin typeface="Aptos"/>
              </a:rPr>
              <a:t>03 / OBJECTIVES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234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0352" y="656539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8B0B4"/>
                </a:solidFill>
                <a:latin typeface="Aptos"/>
              </a:rPr>
              <a:t>ACMFDS  /  PYTHON SIMULATION 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547104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48F3B8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30352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AF4F2"/>
                </a:solidFill>
                <a:latin typeface="Aptos Display"/>
              </a:rPr>
              <a:t>What ACMFDS is designed to demonstrate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051560"/>
            <a:ext cx="10835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8B0B4"/>
                </a:solidFill>
                <a:latin typeface="Aptos"/>
              </a:rPr>
              <a:t>The project combines configurable mission inputs, rule-based context detection and route-safety checks in a visible simulation.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709928"/>
            <a:ext cx="5687568" cy="594360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762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" y="1709928"/>
            <a:ext cx="64008" cy="594360"/>
          </a:xfrm>
          <a:prstGeom prst="rect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" y="1828800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8F3B8"/>
                </a:solidFill>
                <a:latin typeface="Aptos"/>
              </a:rPr>
              <a:t>ENERGY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57984" y="1819656"/>
            <a:ext cx="3886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EAF4F2"/>
                </a:solidFill>
                <a:latin typeface="Aptos"/>
              </a:rPr>
              <a:t>Conserve battery where mission conditions require 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2487168"/>
            <a:ext cx="5687568" cy="594360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762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2487168"/>
            <a:ext cx="64008" cy="594360"/>
          </a:xfrm>
          <a:prstGeom prst="rect">
            <a:avLst/>
          </a:prstGeom>
          <a:solidFill>
            <a:srgbClr val="FF6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" y="2606040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6476"/>
                </a:solidFill>
                <a:latin typeface="Aptos"/>
              </a:rPr>
              <a:t>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57984" y="2596896"/>
            <a:ext cx="3886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EAF4F2"/>
                </a:solidFill>
                <a:latin typeface="Aptos"/>
              </a:rPr>
              <a:t>Avoid unacceptable obstacle clearance.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264408"/>
            <a:ext cx="5687568" cy="594360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762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4360" y="3264408"/>
            <a:ext cx="64008" cy="594360"/>
          </a:xfrm>
          <a:prstGeom prst="rect">
            <a:avLst/>
          </a:prstGeom>
          <a:solidFill>
            <a:srgbClr val="FF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" y="3383280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B35C"/>
                </a:solidFill>
                <a:latin typeface="Aptos"/>
              </a:rPr>
              <a:t>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57984" y="3374136"/>
            <a:ext cx="3886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EAF4F2"/>
                </a:solidFill>
                <a:latin typeface="Aptos"/>
              </a:rPr>
              <a:t>Account for mission duration and travel time.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041648"/>
            <a:ext cx="5687568" cy="594360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762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4360" y="4041648"/>
            <a:ext cx="64008" cy="594360"/>
          </a:xfrm>
          <a:prstGeom prst="rect">
            <a:avLst/>
          </a:prstGeom>
          <a:solidFill>
            <a:srgbClr val="45D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" y="4160520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5D5E7"/>
                </a:solidFill>
                <a:latin typeface="Aptos"/>
              </a:rPr>
              <a:t>TRACKING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57984" y="4151376"/>
            <a:ext cx="3886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EAF4F2"/>
                </a:solidFill>
                <a:latin typeface="Aptos"/>
              </a:rPr>
              <a:t>Stay close to the selected route / reference.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818888"/>
            <a:ext cx="5687568" cy="594360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762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4360" y="4818888"/>
            <a:ext cx="64008" cy="594360"/>
          </a:xfrm>
          <a:prstGeom prst="rect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2104" y="4937759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8F3B8"/>
                </a:solidFill>
                <a:latin typeface="Aptos"/>
              </a:rPr>
              <a:t>MISSION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57984" y="4928616"/>
            <a:ext cx="3886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EAF4F2"/>
                </a:solidFill>
                <a:latin typeface="Aptos"/>
              </a:rPr>
              <a:t>Make progress toward the configurable goal.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1709928"/>
            <a:ext cx="5029200" cy="4114800"/>
          </a:xfrm>
          <a:prstGeom prst="roundRect">
            <a:avLst>
              <a:gd name="adj" fmla="val 10000"/>
            </a:avLst>
          </a:prstGeom>
          <a:solidFill>
            <a:srgbClr val="102F37"/>
          </a:solidFill>
          <a:ln w="1016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76288" y="197510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5D5E7"/>
                </a:solidFill>
                <a:latin typeface="Aptos"/>
              </a:rPr>
              <a:t>OPERATOR CONTROLS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94576" y="2322576"/>
            <a:ext cx="4160520" cy="1554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EAF4F2"/>
                </a:solidFill>
                <a:latin typeface="Aptos"/>
              </a:defRPr>
            </a:pPr>
            <a:r>
              <a:t>•  Battery level</a:t>
            </a:r>
          </a:p>
          <a:p>
            <a:pPr>
              <a:spcAft>
                <a:spcPts val="900"/>
              </a:spcAft>
              <a:defRPr sz="1200" b="0">
                <a:solidFill>
                  <a:srgbClr val="EAF4F2"/>
                </a:solidFill>
                <a:latin typeface="Aptos"/>
              </a:defRPr>
            </a:pPr>
            <a:r>
              <a:t>•  Wind speed</a:t>
            </a:r>
          </a:p>
          <a:p>
            <a:pPr>
              <a:spcAft>
                <a:spcPts val="900"/>
              </a:spcAft>
              <a:defRPr sz="1200" b="0">
                <a:solidFill>
                  <a:srgbClr val="EAF4F2"/>
                </a:solidFill>
                <a:latin typeface="Aptos"/>
              </a:defRPr>
            </a:pPr>
            <a:r>
              <a:t>•  Mission duration</a:t>
            </a:r>
          </a:p>
          <a:p>
            <a:pPr>
              <a:spcAft>
                <a:spcPts val="900"/>
              </a:spcAft>
              <a:defRPr sz="1200" b="0">
                <a:solidFill>
                  <a:srgbClr val="EAF4F2"/>
                </a:solidFill>
                <a:latin typeface="Aptos"/>
              </a:defRPr>
            </a:pPr>
            <a:r>
              <a:t>•  Destination coordinates (X / Z)</a:t>
            </a:r>
          </a:p>
          <a:p>
            <a:pPr>
              <a:spcAft>
                <a:spcPts val="900"/>
              </a:spcAft>
              <a:defRPr sz="1200" b="0">
                <a:solidFill>
                  <a:srgbClr val="EAF4F2"/>
                </a:solidFill>
                <a:latin typeface="Aptos"/>
              </a:defRPr>
            </a:pPr>
            <a:r>
              <a:t>•  Static and moving obstacle scenario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858000" y="4023360"/>
            <a:ext cx="4462272" cy="0"/>
          </a:xfrm>
          <a:prstGeom prst="line">
            <a:avLst/>
          </a:prstGeom>
          <a:ln w="10160">
            <a:solidFill>
              <a:srgbClr val="234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876288" y="4261104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8F3B8"/>
                </a:solidFill>
                <a:latin typeface="Aptos"/>
              </a:rPr>
              <a:t>VISIBLE OUTPUTS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94576" y="4590288"/>
            <a:ext cx="4160520" cy="10058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EAF4F2"/>
                </a:solidFill>
                <a:latin typeface="Aptos"/>
              </a:defRPr>
            </a:pPr>
            <a:r>
              <a:t>•  Current context and target speed</a:t>
            </a:r>
          </a:p>
          <a:p>
            <a:pPr>
              <a:spcAft>
                <a:spcPts val="500"/>
              </a:spcAft>
              <a:defRPr sz="1150" b="0">
                <a:solidFill>
                  <a:srgbClr val="EAF4F2"/>
                </a:solidFill>
                <a:latin typeface="Aptos"/>
              </a:defRPr>
            </a:pPr>
            <a:r>
              <a:t>•  Effective objective weights</a:t>
            </a:r>
          </a:p>
          <a:p>
            <a:pPr>
              <a:spcAft>
                <a:spcPts val="500"/>
              </a:spcAft>
              <a:defRPr sz="1150" b="0">
                <a:solidFill>
                  <a:srgbClr val="EAF4F2"/>
                </a:solidFill>
                <a:latin typeface="Aptos"/>
              </a:defRPr>
            </a:pPr>
            <a:r>
              <a:t>•  Direct-route status and clearance</a:t>
            </a:r>
          </a:p>
          <a:p>
            <a:pPr>
              <a:spcAft>
                <a:spcPts val="500"/>
              </a:spcAft>
              <a:defRPr sz="1150" b="0">
                <a:solidFill>
                  <a:srgbClr val="EAF4F2"/>
                </a:solidFill>
                <a:latin typeface="Aptos"/>
              </a:defRPr>
            </a:pPr>
            <a:r>
              <a:t>•  Mission timer, state and outcome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" y="5888736"/>
            <a:ext cx="10515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B35C"/>
                </a:solidFill>
                <a:latin typeface="Aptos"/>
              </a:rPr>
              <a:t>Scope note: this is a software simulation, not a physical flight controller.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943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4231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2519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807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095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383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5671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" y="13258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" y="31546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4320" y="49834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2064" y="265176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8F3B8"/>
                </a:solidFill>
                <a:latin typeface="Aptos"/>
              </a:rPr>
              <a:t>05 / ARCHITECTURE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234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0352" y="656539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8B0B4"/>
                </a:solidFill>
                <a:latin typeface="Aptos"/>
              </a:rPr>
              <a:t>ACMFDS  /  PYTHON SIMULATION 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547104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48F3B8"/>
                </a:solidFill>
                <a:latin typeface="Aptos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30352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AF4F2"/>
                </a:solidFill>
                <a:latin typeface="Aptos Display"/>
              </a:rPr>
              <a:t>System architecture: separate the visuals from the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051560"/>
            <a:ext cx="10835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8B0B4"/>
                </a:solidFill>
                <a:latin typeface="Aptos"/>
              </a:rPr>
              <a:t>The front end sends operator settings; the simulation backend owns the state and decides what movement is allowed.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1874519"/>
            <a:ext cx="2148840" cy="1005840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1016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" y="1874519"/>
            <a:ext cx="59436" cy="1005840"/>
          </a:xfrm>
          <a:prstGeom prst="rect">
            <a:avLst/>
          </a:prstGeom>
          <a:solidFill>
            <a:srgbClr val="45D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2029967"/>
            <a:ext cx="1874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 i="0">
                <a:solidFill>
                  <a:srgbClr val="45D5E7"/>
                </a:solidFill>
                <a:latin typeface="Aptos"/>
              </a:rPr>
              <a:t>OPERATOR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313432"/>
            <a:ext cx="1874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EAF4F2"/>
                </a:solidFill>
                <a:latin typeface="Aptos"/>
              </a:rPr>
              <a:t>Battery • wind • goal
Duration • controls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1874519"/>
            <a:ext cx="2148840" cy="1005840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1016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108960" y="1874519"/>
            <a:ext cx="59436" cy="1005840"/>
          </a:xfrm>
          <a:prstGeom prst="rect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73552" y="2029967"/>
            <a:ext cx="1874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 i="0">
                <a:solidFill>
                  <a:srgbClr val="48F3B8"/>
                </a:solidFill>
                <a:latin typeface="Aptos"/>
              </a:rPr>
              <a:t>SIMULATION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3552" y="2313432"/>
            <a:ext cx="1874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EAF4F2"/>
                </a:solidFill>
                <a:latin typeface="Aptos"/>
              </a:rPr>
              <a:t>Config • vehicle state
Obstacle state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05272" y="1874519"/>
            <a:ext cx="2148840" cy="1005840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1016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05272" y="1874519"/>
            <a:ext cx="59436" cy="1005840"/>
          </a:xfrm>
          <a:prstGeom prst="rect">
            <a:avLst/>
          </a:prstGeom>
          <a:solidFill>
            <a:srgbClr val="FF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69864" y="2029967"/>
            <a:ext cx="1874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 i="0">
                <a:solidFill>
                  <a:srgbClr val="FFB35C"/>
                </a:solidFill>
                <a:latin typeface="Aptos"/>
              </a:rPr>
              <a:t>CONTEXT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9864" y="2313432"/>
            <a:ext cx="1874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EAF4F2"/>
                </a:solidFill>
                <a:latin typeface="Aptos"/>
              </a:rPr>
              <a:t>Battery / wind /
clearance classification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1583" y="1874519"/>
            <a:ext cx="3246120" cy="1005840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1016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01583" y="1874519"/>
            <a:ext cx="59436" cy="1005840"/>
          </a:xfrm>
          <a:prstGeom prst="rect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66175" y="2029967"/>
            <a:ext cx="2971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 i="0">
                <a:solidFill>
                  <a:srgbClr val="48F3B8"/>
                </a:solidFill>
                <a:latin typeface="Aptos"/>
              </a:rPr>
              <a:t>DECISION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5" y="2313432"/>
            <a:ext cx="29718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EAF4F2"/>
                </a:solidFill>
                <a:latin typeface="Aptos"/>
              </a:rPr>
              <a:t>Action selection • objective weights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761488" y="2377440"/>
            <a:ext cx="301752" cy="0"/>
          </a:xfrm>
          <a:prstGeom prst="line">
            <a:avLst/>
          </a:prstGeom>
          <a:ln w="15240">
            <a:solidFill>
              <a:srgbClr val="48F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hevron 35"/>
          <p:cNvSpPr/>
          <p:nvPr/>
        </p:nvSpPr>
        <p:spPr>
          <a:xfrm>
            <a:off x="2980944" y="2290572"/>
            <a:ext cx="164592" cy="173736"/>
          </a:xfrm>
          <a:prstGeom prst="chevron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5257800" y="2377440"/>
            <a:ext cx="301752" cy="0"/>
          </a:xfrm>
          <a:prstGeom prst="line">
            <a:avLst/>
          </a:prstGeom>
          <a:ln w="15240">
            <a:solidFill>
              <a:srgbClr val="48F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hevron 37"/>
          <p:cNvSpPr/>
          <p:nvPr/>
        </p:nvSpPr>
        <p:spPr>
          <a:xfrm>
            <a:off x="5477256" y="2290572"/>
            <a:ext cx="164592" cy="173736"/>
          </a:xfrm>
          <a:prstGeom prst="chevron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7754112" y="2377440"/>
            <a:ext cx="301752" cy="0"/>
          </a:xfrm>
          <a:prstGeom prst="line">
            <a:avLst/>
          </a:prstGeom>
          <a:ln w="15240">
            <a:solidFill>
              <a:srgbClr val="48F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hevron 39"/>
          <p:cNvSpPr/>
          <p:nvPr/>
        </p:nvSpPr>
        <p:spPr>
          <a:xfrm>
            <a:off x="7973568" y="2290572"/>
            <a:ext cx="164592" cy="173736"/>
          </a:xfrm>
          <a:prstGeom prst="chevron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60120" y="3822191"/>
            <a:ext cx="2834640" cy="1097280"/>
          </a:xfrm>
          <a:prstGeom prst="roundRect">
            <a:avLst>
              <a:gd name="adj" fmla="val 10000"/>
            </a:avLst>
          </a:prstGeom>
          <a:solidFill>
            <a:srgbClr val="102F37"/>
          </a:solidFill>
          <a:ln w="1016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61288" y="3968496"/>
            <a:ext cx="24323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FB35C"/>
                </a:solidFill>
                <a:latin typeface="Aptos"/>
              </a:rPr>
              <a:t>PATH PLANNER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1288" y="4279392"/>
            <a:ext cx="2432304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AF4F2"/>
                </a:solidFill>
                <a:latin typeface="Aptos"/>
              </a:rPr>
              <a:t>Direct-line check now;
search + detour is next.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17720" y="3822191"/>
            <a:ext cx="2834640" cy="1097280"/>
          </a:xfrm>
          <a:prstGeom prst="roundRect">
            <a:avLst>
              <a:gd name="adj" fmla="val 10000"/>
            </a:avLst>
          </a:prstGeom>
          <a:solidFill>
            <a:srgbClr val="102F37"/>
          </a:solidFill>
          <a:ln w="1016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18888" y="3968496"/>
            <a:ext cx="24323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45D5E7"/>
                </a:solidFill>
                <a:latin typeface="Aptos"/>
              </a:rPr>
              <a:t>SIMULATED MOTION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18888" y="4279392"/>
            <a:ext cx="2432304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AF4F2"/>
                </a:solidFill>
                <a:latin typeface="Aptos"/>
              </a:rPr>
              <a:t>Update position, timer
and simplified battery.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75320" y="3822191"/>
            <a:ext cx="2834640" cy="1097280"/>
          </a:xfrm>
          <a:prstGeom prst="roundRect">
            <a:avLst>
              <a:gd name="adj" fmla="val 10000"/>
            </a:avLst>
          </a:prstGeom>
          <a:solidFill>
            <a:srgbClr val="102F37"/>
          </a:solidFill>
          <a:ln w="1016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76488" y="3968496"/>
            <a:ext cx="24323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48F3B8"/>
                </a:solidFill>
                <a:latin typeface="Aptos"/>
              </a:rPr>
              <a:t>TELEMETRY / VIEW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76488" y="4279392"/>
            <a:ext cx="2432304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AF4F2"/>
                </a:solidFill>
                <a:latin typeface="Aptos"/>
              </a:rPr>
              <a:t>Render trajectory, context,
clearance and mission result.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738360" y="2907792"/>
            <a:ext cx="0" cy="466344"/>
          </a:xfrm>
          <a:prstGeom prst="line">
            <a:avLst/>
          </a:prstGeom>
          <a:ln w="16510">
            <a:solidFill>
              <a:srgbClr val="48F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2377440" y="3374136"/>
            <a:ext cx="7360920" cy="0"/>
          </a:xfrm>
          <a:prstGeom prst="line">
            <a:avLst/>
          </a:prstGeom>
          <a:ln w="16510">
            <a:solidFill>
              <a:srgbClr val="48F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377440" y="3374136"/>
            <a:ext cx="0" cy="393192"/>
          </a:xfrm>
          <a:prstGeom prst="line">
            <a:avLst/>
          </a:prstGeom>
          <a:ln w="15240">
            <a:solidFill>
              <a:srgbClr val="48F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hevron 52"/>
          <p:cNvSpPr/>
          <p:nvPr/>
        </p:nvSpPr>
        <p:spPr>
          <a:xfrm rot="5400000">
            <a:off x="2295144" y="3680460"/>
            <a:ext cx="164592" cy="173736"/>
          </a:xfrm>
          <a:prstGeom prst="chevron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" name="Connector 53"/>
          <p:cNvCxnSpPr/>
          <p:nvPr/>
        </p:nvCxnSpPr>
        <p:spPr>
          <a:xfrm>
            <a:off x="3840480" y="4370832"/>
            <a:ext cx="658368" cy="0"/>
          </a:xfrm>
          <a:prstGeom prst="line">
            <a:avLst/>
          </a:prstGeom>
          <a:ln w="16510">
            <a:solidFill>
              <a:srgbClr val="45D5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hevron 54"/>
          <p:cNvSpPr/>
          <p:nvPr/>
        </p:nvSpPr>
        <p:spPr>
          <a:xfrm>
            <a:off x="4416552" y="4283964"/>
            <a:ext cx="164592" cy="173736"/>
          </a:xfrm>
          <a:prstGeom prst="chevron">
            <a:avLst/>
          </a:prstGeom>
          <a:solidFill>
            <a:srgbClr val="45D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" name="Connector 55"/>
          <p:cNvCxnSpPr/>
          <p:nvPr/>
        </p:nvCxnSpPr>
        <p:spPr>
          <a:xfrm>
            <a:off x="7498079" y="4370832"/>
            <a:ext cx="658369" cy="0"/>
          </a:xfrm>
          <a:prstGeom prst="line">
            <a:avLst/>
          </a:prstGeom>
          <a:ln w="16510">
            <a:solidFill>
              <a:srgbClr val="45D5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hevron 56"/>
          <p:cNvSpPr/>
          <p:nvPr/>
        </p:nvSpPr>
        <p:spPr>
          <a:xfrm>
            <a:off x="8074152" y="4283964"/>
            <a:ext cx="164592" cy="173736"/>
          </a:xfrm>
          <a:prstGeom prst="chevron">
            <a:avLst/>
          </a:prstGeom>
          <a:solidFill>
            <a:srgbClr val="45D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1520" y="55138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B35C"/>
                </a:solidFill>
                <a:latin typeface="Aptos"/>
              </a:rPr>
              <a:t>Safety rule: route geometry and obstacle positions—not a decorative distance label—must determine whether a route is feasible.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943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4231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2519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807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095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383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5671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" y="13258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" y="31546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4320" y="49834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2064" y="265176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8F3B8"/>
                </a:solidFill>
                <a:latin typeface="Aptos"/>
              </a:rPr>
              <a:t>06 / DECISION LAYER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234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0352" y="656539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8B0B4"/>
                </a:solidFill>
                <a:latin typeface="Aptos"/>
              </a:rPr>
              <a:t>ACMFDS  /  PYTHON SIMULATION 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547104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48F3B8"/>
                </a:solidFill>
                <a:latin typeface="Aptos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30352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AF4F2"/>
                </a:solidFill>
                <a:latin typeface="Aptos Display"/>
              </a:rPr>
              <a:t>Context detection selects a transparent operating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051560"/>
            <a:ext cx="10835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8B0B4"/>
                </a:solidFill>
                <a:latin typeface="Aptos"/>
              </a:rPr>
              <a:t>The current prototype uses explicit threshold rules with low battery taking precedence over other contexts.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162763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98B0B4"/>
                </a:solidFill>
                <a:latin typeface="Aptos"/>
              </a:rPr>
              <a:t>PRECEDENCE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1947672"/>
            <a:ext cx="2596896" cy="1088136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1016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86384" y="2157984"/>
            <a:ext cx="283464" cy="283464"/>
          </a:xfrm>
          <a:prstGeom prst="ellipse">
            <a:avLst/>
          </a:prstGeom>
          <a:solidFill>
            <a:srgbClr val="FF6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2194560"/>
            <a:ext cx="28346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031015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2112264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F6476"/>
                </a:solidFill>
                <a:latin typeface="Aptos"/>
              </a:rPr>
              <a:t>LOW BATTERY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" y="2560320"/>
            <a:ext cx="2084831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AF4F2"/>
                </a:solidFill>
                <a:latin typeface="Aptos"/>
              </a:rPr>
              <a:t>Battery ≤ 20%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56432" y="1947672"/>
            <a:ext cx="2596896" cy="1088136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1016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639312" y="2157984"/>
            <a:ext cx="283464" cy="283464"/>
          </a:xfrm>
          <a:prstGeom prst="ellipse">
            <a:avLst/>
          </a:prstGeom>
          <a:solidFill>
            <a:srgbClr val="FF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39312" y="2194560"/>
            <a:ext cx="28346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031015"/>
                </a:solidFill>
                <a:latin typeface="Apto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1648" y="2112264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FB35C"/>
                </a:solidFill>
                <a:latin typeface="Aptos"/>
              </a:rPr>
              <a:t>OBSTACLE NEARBY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85032" y="2560320"/>
            <a:ext cx="2084831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AF4F2"/>
                </a:solidFill>
                <a:latin typeface="Aptos"/>
              </a:rPr>
              <a:t>Clearance ≤ 5 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1947672"/>
            <a:ext cx="2596896" cy="1088136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1016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92240" y="2157984"/>
            <a:ext cx="283464" cy="283464"/>
          </a:xfrm>
          <a:prstGeom prst="ellipse">
            <a:avLst/>
          </a:prstGeom>
          <a:solidFill>
            <a:srgbClr val="45D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2194560"/>
            <a:ext cx="28346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031015"/>
                </a:solidFill>
                <a:latin typeface="Apto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2112264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45D5E7"/>
                </a:solidFill>
                <a:latin typeface="Aptos"/>
              </a:rPr>
              <a:t>HIGH WIND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560320"/>
            <a:ext cx="2084831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AF4F2"/>
                </a:solidFill>
                <a:latin typeface="Aptos"/>
              </a:rPr>
              <a:t>Wind ≥ 10 m/s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62288" y="1947672"/>
            <a:ext cx="2596896" cy="1088136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1016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345167" y="2157984"/>
            <a:ext cx="283464" cy="283464"/>
          </a:xfrm>
          <a:prstGeom prst="ellipse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45167" y="2194560"/>
            <a:ext cx="28346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031015"/>
                </a:solidFill>
                <a:latin typeface="Aptos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47504" y="2112264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48F3B8"/>
                </a:solidFill>
                <a:latin typeface="Aptos"/>
              </a:rPr>
              <a:t>NORMAL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90888" y="2560320"/>
            <a:ext cx="2084831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AF4F2"/>
                </a:solidFill>
                <a:latin typeface="Aptos"/>
              </a:rPr>
              <a:t>Otherwise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3410712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8F3B8"/>
                </a:solidFill>
                <a:latin typeface="Aptos"/>
              </a:rPr>
              <a:t>PROTOTYPE OUTPUTS BY 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3749039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8B0B4"/>
                </a:solidFill>
                <a:latin typeface="Aptos"/>
              </a:rPr>
              <a:t>CONTEXT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77639" y="3749039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8B0B4"/>
                </a:solidFill>
                <a:latin typeface="Aptos"/>
              </a:rPr>
              <a:t>TARGET SPEED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0" y="3749039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8B0B4"/>
                </a:solidFill>
                <a:latin typeface="Aptos"/>
              </a:rPr>
              <a:t>CURRENT RESPONSE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76656" y="4370832"/>
            <a:ext cx="10799064" cy="0"/>
          </a:xfrm>
          <a:prstGeom prst="line">
            <a:avLst/>
          </a:prstGeom>
          <a:ln w="6985">
            <a:solidFill>
              <a:srgbClr val="234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31520" y="402336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8F3B8"/>
                </a:solidFill>
                <a:latin typeface="Aptos"/>
              </a:rPr>
              <a:t>Normal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77639" y="402336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AF4F2"/>
                </a:solidFill>
                <a:latin typeface="Aptos"/>
              </a:rPr>
              <a:t>4.0 m/s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15000" y="40233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EAF4F2"/>
                </a:solidFill>
                <a:latin typeface="Aptos"/>
              </a:rPr>
              <a:t>Follow direct route if the safety check passes.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76656" y="4782312"/>
            <a:ext cx="10799064" cy="0"/>
          </a:xfrm>
          <a:prstGeom prst="line">
            <a:avLst/>
          </a:prstGeom>
          <a:ln w="6985">
            <a:solidFill>
              <a:srgbClr val="234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31520" y="443484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5D5E7"/>
                </a:solidFill>
                <a:latin typeface="Aptos"/>
              </a:rPr>
              <a:t>High wind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77639" y="443484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AF4F2"/>
                </a:solidFill>
                <a:latin typeface="Aptos"/>
              </a:rPr>
              <a:t>3.0 m/s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15000" y="44348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EAF4F2"/>
                </a:solidFill>
                <a:latin typeface="Aptos"/>
              </a:rPr>
              <a:t>Use a reduced target speed in the prototype.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6656" y="5193792"/>
            <a:ext cx="10799064" cy="0"/>
          </a:xfrm>
          <a:prstGeom prst="line">
            <a:avLst/>
          </a:prstGeom>
          <a:ln w="6985">
            <a:solidFill>
              <a:srgbClr val="234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31520" y="484632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B35C"/>
                </a:solidFill>
                <a:latin typeface="Aptos"/>
              </a:rPr>
              <a:t>Obstacle nearby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77639" y="484632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AF4F2"/>
                </a:solidFill>
                <a:latin typeface="Aptos"/>
              </a:rPr>
              <a:t>2.5 m/s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0" y="48463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EAF4F2"/>
                </a:solidFill>
                <a:latin typeface="Aptos"/>
              </a:rPr>
              <a:t>If direct route is blocked, stop; detour planner not yet implemented.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76656" y="5605272"/>
            <a:ext cx="10799064" cy="0"/>
          </a:xfrm>
          <a:prstGeom prst="line">
            <a:avLst/>
          </a:prstGeom>
          <a:ln w="6985">
            <a:solidFill>
              <a:srgbClr val="234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31520" y="525780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6476"/>
                </a:solidFill>
                <a:latin typeface="Aptos"/>
              </a:rPr>
              <a:t>Low battery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77639" y="525780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AF4F2"/>
                </a:solidFill>
                <a:latin typeface="Aptos"/>
              </a:rPr>
              <a:t>2.0 m/s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15000" y="5257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EAF4F2"/>
                </a:solidFill>
                <a:latin typeface="Aptos"/>
              </a:rPr>
              <a:t>Energy-priority weights are displayed; no return-to-home logic yet.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" y="5989320"/>
            <a:ext cx="10515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B35C"/>
                </a:solidFill>
                <a:latin typeface="Aptos"/>
              </a:rPr>
              <a:t>Thresholds and speeds are software configuration values, not validated aircraft limits.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943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4231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2519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807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095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383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5671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" y="13258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" y="31546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4320" y="49834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2064" y="265176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8F3B8"/>
                </a:solidFill>
                <a:latin typeface="Aptos"/>
              </a:rPr>
              <a:t>07 / MULTI-OBJECTIVE MODEL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234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0352" y="656539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8B0B4"/>
                </a:solidFill>
                <a:latin typeface="Aptos"/>
              </a:rPr>
              <a:t>ACMFDS  /  PYTHON SIMULATION 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547104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48F3B8"/>
                </a:solidFill>
                <a:latin typeface="Aptos"/>
              </a:rPr>
              <a:t>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30352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AF4F2"/>
                </a:solidFill>
                <a:latin typeface="Aptos Display"/>
              </a:rPr>
              <a:t>The decision model balances five objectives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051560"/>
            <a:ext cx="10835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8B0B4"/>
                </a:solidFill>
                <a:latin typeface="Aptos"/>
              </a:rPr>
              <a:t>Target formulation: evaluate each feasible candidate path using context-dependent weights and comparable cost terms.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" y="1737360"/>
            <a:ext cx="5760720" cy="1133856"/>
          </a:xfrm>
          <a:prstGeom prst="roundRect">
            <a:avLst>
              <a:gd name="adj" fmla="val 10000"/>
            </a:avLst>
          </a:prstGeom>
          <a:solidFill>
            <a:srgbClr val="102F37"/>
          </a:solidFill>
          <a:ln w="1143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2048256"/>
            <a:ext cx="528523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EAF4F2"/>
                </a:solidFill>
                <a:latin typeface="Aptos"/>
              </a:rPr>
              <a:t>C(P) = wE·E(P) + wS·S(P) + wT·T(P) + wR·R(P) + wM·M(P)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2569464"/>
            <a:ext cx="4937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8F3B8"/>
                </a:solidFill>
                <a:latin typeface="Aptos"/>
              </a:rPr>
              <a:t>Lower cost is preferred among feasible routes.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3218688"/>
            <a:ext cx="2048256" cy="1051560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889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3401568"/>
            <a:ext cx="347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48F3B8"/>
                </a:solidFill>
                <a:latin typeface="Aptos Display"/>
              </a:rP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9576" y="3401568"/>
            <a:ext cx="12344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8F3B8"/>
                </a:solidFill>
                <a:latin typeface="Aptos"/>
              </a:rPr>
              <a:t>ENERGY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803904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EAF4F2"/>
                </a:solidFill>
                <a:latin typeface="Aptos"/>
              </a:rPr>
              <a:t>Estimated energy / battery cost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98648" y="3218688"/>
            <a:ext cx="2048256" cy="1051560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889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35808" y="3401568"/>
            <a:ext cx="347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FF6476"/>
                </a:solidFill>
                <a:latin typeface="Aptos Display"/>
              </a:rPr>
              <a:t>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65576" y="3401568"/>
            <a:ext cx="12344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6476"/>
                </a:solidFill>
                <a:latin typeface="Aptos"/>
              </a:rPr>
              <a:t>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35808" y="3803904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EAF4F2"/>
                </a:solidFill>
                <a:latin typeface="Aptos"/>
              </a:rPr>
              <a:t>Obstacle exposure and clearance risk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84648" y="3218688"/>
            <a:ext cx="2048256" cy="1051560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889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21808" y="3401568"/>
            <a:ext cx="347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FFB35C"/>
                </a:solidFill>
                <a:latin typeface="Aptos Display"/>
              </a:rPr>
              <a:t>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51576" y="3401568"/>
            <a:ext cx="12344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B35C"/>
                </a:solidFill>
                <a:latin typeface="Aptos"/>
              </a:rPr>
              <a:t>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1808" y="3803904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EAF4F2"/>
                </a:solidFill>
                <a:latin typeface="Aptos"/>
              </a:rPr>
              <a:t>Estimated travel time / deadline pressure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70648" y="3218688"/>
            <a:ext cx="2048256" cy="1051560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889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07808" y="3401568"/>
            <a:ext cx="347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45D5E7"/>
                </a:solidFill>
                <a:latin typeface="Aptos Display"/>
              </a:rPr>
              <a:t>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37575" y="3401568"/>
            <a:ext cx="12344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5D5E7"/>
                </a:solidFill>
                <a:latin typeface="Aptos"/>
              </a:rPr>
              <a:t>TRACKING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7808" y="3803904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EAF4F2"/>
                </a:solidFill>
                <a:latin typeface="Aptos"/>
              </a:rPr>
              <a:t>Deviation from a reference path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56648" y="3218688"/>
            <a:ext cx="2048256" cy="1051560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889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93808" y="3401568"/>
            <a:ext cx="347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48F3B8"/>
                </a:solidFill>
                <a:latin typeface="Aptos Display"/>
              </a:rPr>
              <a:t>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23576" y="3401568"/>
            <a:ext cx="12344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8F3B8"/>
                </a:solidFill>
                <a:latin typeface="Aptos"/>
              </a:rPr>
              <a:t>MISSION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93808" y="3803904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EAF4F2"/>
                </a:solidFill>
                <a:latin typeface="Aptos"/>
              </a:rPr>
              <a:t>Progress and goal-fulfilment cost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" y="4645152"/>
            <a:ext cx="5367528" cy="1069848"/>
          </a:xfrm>
          <a:prstGeom prst="roundRect">
            <a:avLst>
              <a:gd name="adj" fmla="val 10000"/>
            </a:avLst>
          </a:prstGeom>
          <a:solidFill>
            <a:srgbClr val="102F37"/>
          </a:solidFill>
          <a:ln w="889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41248" y="4818888"/>
            <a:ext cx="1609344" cy="274320"/>
          </a:xfrm>
          <a:prstGeom prst="roundRect">
            <a:avLst>
              <a:gd name="adj" fmla="val 10000"/>
            </a:avLst>
          </a:prstGeom>
          <a:solidFill>
            <a:srgbClr val="0B2027"/>
          </a:solidFill>
          <a:ln w="8890">
            <a:solidFill>
              <a:srgbClr val="45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96112" y="4860036"/>
            <a:ext cx="1499616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45D5E7"/>
                </a:solidFill>
                <a:latin typeface="Aptos"/>
              </a:rPr>
              <a:t>CURRENT PROTOTYPE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" y="5212080"/>
            <a:ext cx="4754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AF4F2"/>
                </a:solidFill>
                <a:latin typeface="Aptos"/>
              </a:rPr>
              <a:t>Rule table changes the displayed weights by context.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36208" y="4645152"/>
            <a:ext cx="5303520" cy="1069848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889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455664" y="4818888"/>
            <a:ext cx="1481328" cy="274320"/>
          </a:xfrm>
          <a:prstGeom prst="roundRect">
            <a:avLst>
              <a:gd name="adj" fmla="val 10000"/>
            </a:avLst>
          </a:prstGeom>
          <a:solidFill>
            <a:srgbClr val="0B2027"/>
          </a:solidFill>
          <a:ln w="8890">
            <a:solidFill>
              <a:srgbClr val="FFB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10527" y="4860036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B35C"/>
                </a:solidFill>
                <a:latin typeface="Aptos"/>
              </a:rPr>
              <a:t>NEXT MILESTONE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55664" y="5212080"/>
            <a:ext cx="4681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AF4F2"/>
                </a:solidFill>
                <a:latin typeface="Aptos"/>
              </a:rPr>
              <a:t>Use weights inside route-cost evaluation and candidate ranking.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5989320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1">
                <a:solidFill>
                  <a:srgbClr val="98B0B4"/>
                </a:solidFill>
                <a:latin typeface="Aptos"/>
              </a:rPr>
              <a:t>Cost terms must be normalized / scaled consistently before their weighted sum is meaningful.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943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4231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2519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807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095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383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5671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" y="13258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" y="31546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4320" y="49834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2064" y="265176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8F3B8"/>
                </a:solidFill>
                <a:latin typeface="Aptos"/>
              </a:rPr>
              <a:t>08 / NAVIGATION AND SAFETY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234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0352" y="656539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8B0B4"/>
                </a:solidFill>
                <a:latin typeface="Aptos"/>
              </a:rPr>
              <a:t>ACMFDS  /  PYTHON SIMULATION 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547104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48F3B8"/>
                </a:solidFill>
                <a:latin typeface="Aptos"/>
              </a:rPr>
              <a:t>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30352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AF4F2"/>
                </a:solidFill>
                <a:latin typeface="Aptos Display"/>
              </a:rPr>
              <a:t>A route is accepted only when its geometry is safe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051560"/>
            <a:ext cx="10835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8B0B4"/>
                </a:solidFill>
                <a:latin typeface="Aptos"/>
              </a:rPr>
              <a:t>The supplied sketch communicates the target behavior: visible trajectory choices around obstacles.</a:t>
            </a:r>
          </a:p>
        </p:txBody>
      </p:sp>
      <p:pic>
        <p:nvPicPr>
          <p:cNvPr id="19" name="Picture 18" descr="image(20261016-122432).png"/>
          <p:cNvPicPr>
            <a:picLocks noChangeAspect="1"/>
          </p:cNvPicPr>
          <p:nvPr/>
        </p:nvPicPr>
        <p:blipFill>
          <a:blip r:embed="rId2"/>
          <a:srcRect t="2426" b="2426"/>
          <a:stretch>
            <a:fillRect/>
          </a:stretch>
        </p:blipFill>
        <p:spPr>
          <a:xfrm>
            <a:off x="603504" y="1691640"/>
            <a:ext cx="4617720" cy="443484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3504" y="1691640"/>
            <a:ext cx="4617720" cy="4434840"/>
          </a:xfrm>
          <a:prstGeom prst="roundRect">
            <a:avLst>
              <a:gd name="adj" fmla="val 6000"/>
            </a:avLst>
          </a:prstGeom>
          <a:noFill/>
          <a:ln w="1143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" y="6181344"/>
            <a:ext cx="4480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1" i="0">
                <a:solidFill>
                  <a:srgbClr val="98B0B4"/>
                </a:solidFill>
                <a:latin typeface="Aptos"/>
              </a:rPr>
              <a:t>USER-SUPPLIED PATH-PLANNING REFERENCE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32120" y="1700784"/>
            <a:ext cx="5989320" cy="4416552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1016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33872" y="1984248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8F3B8"/>
                </a:solidFill>
                <a:latin typeface="Aptos"/>
              </a:rPr>
              <a:t>ROUTE-SAFETY PIPELINE</a:t>
            </a:r>
          </a:p>
        </p:txBody>
      </p:sp>
      <p:sp>
        <p:nvSpPr>
          <p:cNvPr id="24" name="Oval 23"/>
          <p:cNvSpPr/>
          <p:nvPr/>
        </p:nvSpPr>
        <p:spPr>
          <a:xfrm>
            <a:off x="5852160" y="2404872"/>
            <a:ext cx="301752" cy="301752"/>
          </a:xfrm>
          <a:prstGeom prst="ellipse">
            <a:avLst/>
          </a:prstGeom>
          <a:solidFill>
            <a:srgbClr val="45D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52160" y="2459736"/>
            <a:ext cx="30175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30" b="1" i="0">
                <a:solidFill>
                  <a:srgbClr val="031015"/>
                </a:solidFill>
                <a:latin typeface="Apto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386584"/>
            <a:ext cx="217627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AF4F2"/>
                </a:solidFill>
                <a:latin typeface="Aptos"/>
              </a:rPr>
              <a:t>Build direct segment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386584"/>
            <a:ext cx="278892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98B0B4"/>
                </a:solidFill>
                <a:latin typeface="Aptos"/>
              </a:rPr>
              <a:t>Connect current position to the adjustable goal.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07608" y="2706624"/>
            <a:ext cx="0" cy="402336"/>
          </a:xfrm>
          <a:prstGeom prst="line">
            <a:avLst/>
          </a:prstGeom>
          <a:ln w="12700">
            <a:solidFill>
              <a:srgbClr val="234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852160" y="3136392"/>
            <a:ext cx="301752" cy="301752"/>
          </a:xfrm>
          <a:prstGeom prst="ellipse">
            <a:avLst/>
          </a:prstGeom>
          <a:solidFill>
            <a:srgbClr val="FF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52160" y="3191256"/>
            <a:ext cx="30175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30" b="1" i="0">
                <a:solidFill>
                  <a:srgbClr val="031015"/>
                </a:solidFill>
                <a:latin typeface="Aptos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118104"/>
            <a:ext cx="217627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AF4F2"/>
                </a:solidFill>
                <a:latin typeface="Aptos"/>
              </a:rPr>
              <a:t>Check obstacle footprints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118104"/>
            <a:ext cx="278892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98B0B4"/>
                </a:solidFill>
                <a:latin typeface="Aptos"/>
              </a:rPr>
              <a:t>Inflate obstacle footprint by drone radius + safety margin.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07608" y="3438144"/>
            <a:ext cx="0" cy="402336"/>
          </a:xfrm>
          <a:prstGeom prst="line">
            <a:avLst/>
          </a:prstGeom>
          <a:ln w="12700">
            <a:solidFill>
              <a:srgbClr val="234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852160" y="3867911"/>
            <a:ext cx="301752" cy="301752"/>
          </a:xfrm>
          <a:prstGeom prst="ellipse">
            <a:avLst/>
          </a:prstGeom>
          <a:solidFill>
            <a:srgbClr val="FF6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52160" y="3922776"/>
            <a:ext cx="30175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30" b="1" i="0">
                <a:solidFill>
                  <a:srgbClr val="031015"/>
                </a:solidFill>
                <a:latin typeface="Aptos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849624"/>
            <a:ext cx="217627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AF4F2"/>
                </a:solidFill>
                <a:latin typeface="Aptos"/>
              </a:rPr>
              <a:t>Accept or reject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849624"/>
            <a:ext cx="278892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98B0B4"/>
                </a:solidFill>
                <a:latin typeface="Aptos"/>
              </a:rPr>
              <a:t>Clear route → proceed; blocked route → safe stop.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07608" y="4169663"/>
            <a:ext cx="0" cy="402337"/>
          </a:xfrm>
          <a:prstGeom prst="line">
            <a:avLst/>
          </a:prstGeom>
          <a:ln w="12700">
            <a:solidFill>
              <a:srgbClr val="234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852160" y="4599431"/>
            <a:ext cx="301752" cy="301752"/>
          </a:xfrm>
          <a:prstGeom prst="ellipse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852160" y="4654296"/>
            <a:ext cx="30175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30" b="1" i="0">
                <a:solidFill>
                  <a:srgbClr val="031015"/>
                </a:solidFill>
                <a:latin typeface="Aptos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581144"/>
            <a:ext cx="217627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AF4F2"/>
                </a:solidFill>
                <a:latin typeface="Aptos"/>
              </a:rPr>
              <a:t>Planned extension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581144"/>
            <a:ext cx="278892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98B0B4"/>
                </a:solidFill>
                <a:latin typeface="Aptos"/>
              </a:rPr>
              <a:t>Search feasible detours, score cost, choose best safe candidate.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52160" y="5458968"/>
            <a:ext cx="5276088" cy="411480"/>
          </a:xfrm>
          <a:prstGeom prst="roundRect">
            <a:avLst>
              <a:gd name="adj" fmla="val 10000"/>
            </a:avLst>
          </a:prstGeom>
          <a:solidFill>
            <a:srgbClr val="321B24"/>
          </a:solidFill>
          <a:ln w="8255">
            <a:solidFill>
              <a:srgbClr val="FF6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16752" y="5568696"/>
            <a:ext cx="4937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1" i="0">
                <a:solidFill>
                  <a:srgbClr val="FF6476"/>
                </a:solidFill>
                <a:latin typeface="Aptos"/>
              </a:rPr>
              <a:t>Current behavior: direct-route gate + stop when blocked; no detour search yet.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943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4231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2519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807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095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383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5671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" y="13258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" y="31546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4320" y="49834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2064" y="265176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8F3B8"/>
                </a:solidFill>
                <a:latin typeface="Aptos"/>
              </a:rPr>
              <a:t>09 / SIMULATION LOOP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234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0352" y="656539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8B0B4"/>
                </a:solidFill>
                <a:latin typeface="Aptos"/>
              </a:rPr>
              <a:t>ACMFDS  /  PYTHON SIMULATION 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547104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48F3B8"/>
                </a:solidFill>
                <a:latin typeface="Aptos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30352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AF4F2"/>
                </a:solidFill>
                <a:latin typeface="Aptos Display"/>
              </a:rPr>
              <a:t>The control loop makes decisions observable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051560"/>
            <a:ext cx="10835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8B0B4"/>
                </a:solidFill>
                <a:latin typeface="Aptos"/>
              </a:rPr>
              <a:t>The prototype updates a moving obstacle, recomputes context and clearance, then either advances along a clear direct route or stops.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103120"/>
            <a:ext cx="1682496" cy="1234440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9525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267712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5D5E7"/>
                </a:solidFill>
                <a:latin typeface="Aptos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58775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45D5E7"/>
                </a:solidFill>
                <a:latin typeface="Aptos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907792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EAF4F2"/>
                </a:solidFill>
                <a:latin typeface="Aptos"/>
              </a:rPr>
              <a:t>Battery / wind
mission settings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94560" y="2706624"/>
            <a:ext cx="210312" cy="0"/>
          </a:xfrm>
          <a:prstGeom prst="line">
            <a:avLst/>
          </a:prstGeom>
          <a:ln w="13970">
            <a:solidFill>
              <a:srgbClr val="48F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>
            <a:off x="2322576" y="2619756"/>
            <a:ext cx="164592" cy="173736"/>
          </a:xfrm>
          <a:prstGeom prst="chevron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441448" y="2103120"/>
            <a:ext cx="1682496" cy="1234440"/>
          </a:xfrm>
          <a:prstGeom prst="roundRect">
            <a:avLst>
              <a:gd name="adj" fmla="val 10000"/>
            </a:avLst>
          </a:prstGeom>
          <a:solidFill>
            <a:srgbClr val="102F37"/>
          </a:solidFill>
          <a:ln w="9525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78608" y="2267712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FFB35C"/>
                </a:solidFill>
                <a:latin typeface="Apto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8608" y="258775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FFB35C"/>
                </a:solidFill>
                <a:latin typeface="Aptos"/>
              </a:rPr>
              <a:t>ENVIRONMENT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8608" y="2907792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EAF4F2"/>
                </a:solidFill>
                <a:latin typeface="Aptos"/>
              </a:rPr>
              <a:t>Move obstacle(s)
update geometry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133087" y="2706624"/>
            <a:ext cx="210313" cy="0"/>
          </a:xfrm>
          <a:prstGeom prst="line">
            <a:avLst/>
          </a:prstGeom>
          <a:ln w="13970">
            <a:solidFill>
              <a:srgbClr val="48F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hevron 29"/>
          <p:cNvSpPr/>
          <p:nvPr/>
        </p:nvSpPr>
        <p:spPr>
          <a:xfrm>
            <a:off x="4261104" y="2619756"/>
            <a:ext cx="164592" cy="173736"/>
          </a:xfrm>
          <a:prstGeom prst="chevron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379976" y="2103120"/>
            <a:ext cx="1682496" cy="1234440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9525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17136" y="2267712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8F3B8"/>
                </a:solidFill>
                <a:latin typeface="Aptos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7136" y="258775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48F3B8"/>
                </a:solidFill>
                <a:latin typeface="Aptos"/>
              </a:rPr>
              <a:t>PERCEPTION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7136" y="2907792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EAF4F2"/>
                </a:solidFill>
                <a:latin typeface="Aptos"/>
              </a:rPr>
              <a:t>Nearest clearance
direct-line check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71616" y="2706624"/>
            <a:ext cx="210312" cy="0"/>
          </a:xfrm>
          <a:prstGeom prst="line">
            <a:avLst/>
          </a:prstGeom>
          <a:ln w="13970">
            <a:solidFill>
              <a:srgbClr val="48F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hevron 35"/>
          <p:cNvSpPr/>
          <p:nvPr/>
        </p:nvSpPr>
        <p:spPr>
          <a:xfrm>
            <a:off x="6199632" y="2619756"/>
            <a:ext cx="164592" cy="173736"/>
          </a:xfrm>
          <a:prstGeom prst="chevron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318504" y="2103120"/>
            <a:ext cx="1682496" cy="1234440"/>
          </a:xfrm>
          <a:prstGeom prst="roundRect">
            <a:avLst>
              <a:gd name="adj" fmla="val 10000"/>
            </a:avLst>
          </a:prstGeom>
          <a:solidFill>
            <a:srgbClr val="102F37"/>
          </a:solidFill>
          <a:ln w="9525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55664" y="2267712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5D5E7"/>
                </a:solidFill>
                <a:latin typeface="Aptos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5664" y="258775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45D5E7"/>
                </a:solidFill>
                <a:latin typeface="Aptos"/>
              </a:rPr>
              <a:t>DECISION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5664" y="2907792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EAF4F2"/>
                </a:solidFill>
                <a:latin typeface="Aptos"/>
              </a:rPr>
              <a:t>Context / weights
target speed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010144" y="2706624"/>
            <a:ext cx="210312" cy="0"/>
          </a:xfrm>
          <a:prstGeom prst="line">
            <a:avLst/>
          </a:prstGeom>
          <a:ln w="13970">
            <a:solidFill>
              <a:srgbClr val="48F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hevron 41"/>
          <p:cNvSpPr/>
          <p:nvPr/>
        </p:nvSpPr>
        <p:spPr>
          <a:xfrm>
            <a:off x="8138160" y="2619756"/>
            <a:ext cx="164592" cy="173736"/>
          </a:xfrm>
          <a:prstGeom prst="chevron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257032" y="2103120"/>
            <a:ext cx="1682496" cy="1234440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9525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94192" y="2267712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FF6476"/>
                </a:solidFill>
                <a:latin typeface="Aptos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4192" y="258775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FF6476"/>
                </a:solidFill>
                <a:latin typeface="Aptos"/>
              </a:rPr>
              <a:t>SAFETY GATE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94192" y="2907792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EAF4F2"/>
                </a:solidFill>
                <a:latin typeface="Aptos"/>
              </a:rPr>
              <a:t>Clear? proceed
blocked? stop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948672" y="2706624"/>
            <a:ext cx="210312" cy="0"/>
          </a:xfrm>
          <a:prstGeom prst="line">
            <a:avLst/>
          </a:prstGeom>
          <a:ln w="13970">
            <a:solidFill>
              <a:srgbClr val="48F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hevron 47"/>
          <p:cNvSpPr/>
          <p:nvPr/>
        </p:nvSpPr>
        <p:spPr>
          <a:xfrm>
            <a:off x="10076688" y="2619756"/>
            <a:ext cx="164592" cy="173736"/>
          </a:xfrm>
          <a:prstGeom prst="chevron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0195560" y="2103120"/>
            <a:ext cx="1682496" cy="1234440"/>
          </a:xfrm>
          <a:prstGeom prst="roundRect">
            <a:avLst>
              <a:gd name="adj" fmla="val 10000"/>
            </a:avLst>
          </a:prstGeom>
          <a:solidFill>
            <a:srgbClr val="102F37"/>
          </a:solidFill>
          <a:ln w="9525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332720" y="2267712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8F3B8"/>
                </a:solidFill>
                <a:latin typeface="Aptos"/>
              </a:rPr>
              <a:t>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258775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48F3B8"/>
                </a:solidFill>
                <a:latin typeface="Aptos"/>
              </a:rPr>
              <a:t>UPDATE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2720" y="2907792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EAF4F2"/>
                </a:solidFill>
                <a:latin typeface="Aptos"/>
              </a:rPr>
              <a:t>Position / timer
battery / telemetry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634472" y="3474720"/>
            <a:ext cx="0" cy="658367"/>
          </a:xfrm>
          <a:prstGeom prst="line">
            <a:avLst/>
          </a:prstGeom>
          <a:ln w="15240">
            <a:solidFill>
              <a:srgbClr val="48F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344168" y="4133087"/>
            <a:ext cx="9290304" cy="0"/>
          </a:xfrm>
          <a:prstGeom prst="line">
            <a:avLst/>
          </a:prstGeom>
          <a:ln w="15240">
            <a:solidFill>
              <a:srgbClr val="48F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344168" y="3419856"/>
            <a:ext cx="0" cy="713231"/>
          </a:xfrm>
          <a:prstGeom prst="line">
            <a:avLst/>
          </a:prstGeom>
          <a:ln w="15240">
            <a:solidFill>
              <a:srgbClr val="48F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hevron 55"/>
          <p:cNvSpPr/>
          <p:nvPr/>
        </p:nvSpPr>
        <p:spPr>
          <a:xfrm rot="16200000">
            <a:off x="1261872" y="3332988"/>
            <a:ext cx="164592" cy="173736"/>
          </a:xfrm>
          <a:prstGeom prst="chevron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297680" y="3968496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48F3B8"/>
                </a:solidFill>
                <a:latin typeface="Aptos"/>
              </a:rPr>
              <a:t>Fixed-step simulation loop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" y="4754880"/>
            <a:ext cx="5303520" cy="1051560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889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59536" y="49651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5D5E7"/>
                </a:solidFill>
                <a:latin typeface="Aptos"/>
              </a:rPr>
              <a:t>SIMULATED PHYSICS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9536" y="530352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AF4F2"/>
                </a:solidFill>
                <a:latin typeface="Aptos"/>
              </a:rPr>
              <a:t>Battery drain and wind response are simplified demonstrator models, not calibrated vehicle dynamics.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99632" y="4754880"/>
            <a:ext cx="5303520" cy="1051560"/>
          </a:xfrm>
          <a:prstGeom prst="roundRect">
            <a:avLst>
              <a:gd name="adj" fmla="val 10000"/>
            </a:avLst>
          </a:prstGeom>
          <a:solidFill>
            <a:srgbClr val="0D252D"/>
          </a:solidFill>
          <a:ln w="889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37376" y="49651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8F3B8"/>
                </a:solidFill>
                <a:latin typeface="Aptos"/>
              </a:rPr>
              <a:t>VISIBILITY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37376" y="530352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AF4F2"/>
                </a:solidFill>
                <a:latin typeface="Aptos"/>
              </a:rPr>
              <a:t>Every run should log context, action, route status, clearance, elapsed time and final outcome.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943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4231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2519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807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095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383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567160" y="365760"/>
            <a:ext cx="0" cy="612648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" y="13258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" y="31546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4320" y="4983480"/>
            <a:ext cx="11612880" cy="0"/>
          </a:xfrm>
          <a:prstGeom prst="line">
            <a:avLst/>
          </a:prstGeom>
          <a:ln w="4445">
            <a:solidFill>
              <a:srgbClr val="1028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2064" y="265176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8F3B8"/>
                </a:solidFill>
                <a:latin typeface="Aptos"/>
              </a:rPr>
              <a:t>11 / STATUS AND NEXT STEPS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234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0352" y="656539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8B0B4"/>
                </a:solidFill>
                <a:latin typeface="Aptos"/>
              </a:rPr>
              <a:t>ACMFDS  /  PYTHON SIMULATION 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547104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48F3B8"/>
                </a:solidFill>
                <a:latin typeface="Aptos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30352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AF4F2"/>
                </a:solidFill>
                <a:latin typeface="Aptos Display"/>
              </a:rPr>
              <a:t>Prototype status: baseline built; planner still pending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051560"/>
            <a:ext cx="10835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8B0B4"/>
                </a:solidFill>
                <a:latin typeface="Aptos"/>
              </a:rPr>
              <a:t>The current deliverable is a software-only interactive prototype; the complete adaptive planner remains future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" y="1700784"/>
            <a:ext cx="5321808" cy="3127248"/>
          </a:xfrm>
          <a:prstGeom prst="roundRect">
            <a:avLst>
              <a:gd name="adj" fmla="val 10000"/>
            </a:avLst>
          </a:prstGeom>
          <a:solidFill>
            <a:srgbClr val="102F37"/>
          </a:solidFill>
          <a:ln w="10160">
            <a:solidFill>
              <a:srgbClr val="234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1956816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8F3B8"/>
                </a:solidFill>
                <a:latin typeface="Aptos"/>
              </a:rPr>
              <a:t>IN THE CURRENT PYTHON PROTOTYPE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340864"/>
            <a:ext cx="4590288" cy="21488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800"/>
              </a:spcAft>
              <a:defRPr sz="1110" b="0">
                <a:solidFill>
                  <a:srgbClr val="EAF4F2"/>
                </a:solidFill>
                <a:latin typeface="Aptos"/>
              </a:defRPr>
            </a:pPr>
            <a:r>
              <a:t>•  Ursina 3D scene with grid, simple buildings and drone geometry</a:t>
            </a:r>
          </a:p>
          <a:p>
            <a:pPr>
              <a:spcAft>
                <a:spcPts val="800"/>
              </a:spcAft>
              <a:defRPr sz="1110" b="0">
                <a:solidFill>
                  <a:srgbClr val="EAF4F2"/>
                </a:solidFill>
                <a:latin typeface="Aptos"/>
              </a:defRPr>
            </a:pPr>
            <a:r>
              <a:t>•  Four static obstacles plus one oscillating moving obstacle</a:t>
            </a:r>
          </a:p>
          <a:p>
            <a:pPr>
              <a:spcAft>
                <a:spcPts val="800"/>
              </a:spcAft>
              <a:defRPr sz="1110" b="0">
                <a:solidFill>
                  <a:srgbClr val="EAF4F2"/>
                </a:solidFill>
                <a:latin typeface="Aptos"/>
              </a:defRPr>
            </a:pPr>
            <a:r>
              <a:t>•  On-screen controls for battery, wind, mission duration and goal X/Z</a:t>
            </a:r>
          </a:p>
          <a:p>
            <a:pPr>
              <a:spcAft>
                <a:spcPts val="800"/>
              </a:spcAft>
              <a:defRPr sz="1110" b="0">
                <a:solidFill>
                  <a:srgbClr val="EAF4F2"/>
                </a:solidFill>
                <a:latin typeface="Aptos"/>
              </a:defRPr>
            </a:pPr>
            <a:r>
              <a:t>•  Context labels, target-speed rules and context-specific weight display</a:t>
            </a:r>
          </a:p>
          <a:p>
            <a:pPr>
              <a:spcAft>
                <a:spcPts val="800"/>
              </a:spcAft>
              <a:defRPr sz="1110" b="0">
                <a:solidFill>
                  <a:srgbClr val="EAF4F2"/>
                </a:solidFill>
                <a:latin typeface="Aptos"/>
              </a:defRPr>
            </a:pPr>
            <a:r>
              <a:t>•  Direct-route clearance check, simple movement and stop when blocked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0640"/>
            <a:ext cx="19202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45D5E7"/>
                </a:solidFill>
                <a:latin typeface="Aptos"/>
              </a:rPr>
              <a:t>MILESTONES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5486400"/>
            <a:ext cx="310896" cy="310896"/>
          </a:xfrm>
          <a:prstGeom prst="ellipse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559552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031015"/>
                </a:solidFill>
                <a:latin typeface="Aptos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5513832"/>
            <a:ext cx="15727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EAF4F2"/>
                </a:solidFill>
                <a:latin typeface="Aptos"/>
              </a:rPr>
              <a:t>Separate modules</a:t>
            </a:r>
          </a:p>
        </p:txBody>
      </p:sp>
      <p:sp>
        <p:nvSpPr>
          <p:cNvPr id="29" name="Oval 28"/>
          <p:cNvSpPr/>
          <p:nvPr/>
        </p:nvSpPr>
        <p:spPr>
          <a:xfrm>
            <a:off x="2816352" y="5486400"/>
            <a:ext cx="310896" cy="310896"/>
          </a:xfrm>
          <a:prstGeom prst="ellipse">
            <a:avLst/>
          </a:prstGeom>
          <a:solidFill>
            <a:srgbClr val="45D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16352" y="5559552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031015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55264" y="5513832"/>
            <a:ext cx="1572768" cy="1568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 dirty="0">
                <a:solidFill>
                  <a:srgbClr val="EAF4F2"/>
                </a:solidFill>
                <a:latin typeface="Aptos"/>
              </a:rPr>
              <a:t> safety tests</a:t>
            </a:r>
          </a:p>
        </p:txBody>
      </p:sp>
      <p:sp>
        <p:nvSpPr>
          <p:cNvPr id="32" name="Oval 31"/>
          <p:cNvSpPr/>
          <p:nvPr/>
        </p:nvSpPr>
        <p:spPr>
          <a:xfrm>
            <a:off x="4992624" y="5486400"/>
            <a:ext cx="310896" cy="310896"/>
          </a:xfrm>
          <a:prstGeom prst="ellipse">
            <a:avLst/>
          </a:prstGeom>
          <a:solidFill>
            <a:srgbClr val="FF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92624" y="5559552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031015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31536" y="5513832"/>
            <a:ext cx="15727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EAF4F2"/>
                </a:solidFill>
                <a:latin typeface="Aptos"/>
              </a:rPr>
              <a:t>Weighted cost</a:t>
            </a:r>
          </a:p>
        </p:txBody>
      </p:sp>
      <p:sp>
        <p:nvSpPr>
          <p:cNvPr id="35" name="Oval 34"/>
          <p:cNvSpPr/>
          <p:nvPr/>
        </p:nvSpPr>
        <p:spPr>
          <a:xfrm>
            <a:off x="7168896" y="5486400"/>
            <a:ext cx="310896" cy="310896"/>
          </a:xfrm>
          <a:prstGeom prst="ellipse">
            <a:avLst/>
          </a:prstGeom>
          <a:solidFill>
            <a:srgbClr val="48F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68896" y="5559552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031015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7808" y="5513832"/>
            <a:ext cx="15727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EAF4F2"/>
                </a:solidFill>
                <a:latin typeface="Aptos"/>
              </a:rPr>
              <a:t>Results + report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40080" y="5961888"/>
            <a:ext cx="10835640" cy="0"/>
          </a:xfrm>
          <a:prstGeom prst="line">
            <a:avLst/>
          </a:prstGeom>
          <a:ln w="8255">
            <a:solidFill>
              <a:srgbClr val="234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368" y="6071616"/>
            <a:ext cx="10698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98B0B4"/>
                </a:solidFill>
                <a:latin typeface="Aptos"/>
              </a:rPr>
              <a:t>TEAM  |  Deepika Reddy • Gade Varshini • Jovika N B • Poojitha P • Potnuru Varun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291072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1" i="0">
                <a:solidFill>
                  <a:srgbClr val="FFB35C"/>
                </a:solidFill>
                <a:latin typeface="Aptos"/>
              </a:rPr>
              <a:t>Simulation only — no physical aircraft, sensors or flight-controller integration is claimed.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1284</Words>
  <Application>Microsoft Office PowerPoint</Application>
  <PresentationFormat>Widescreen</PresentationFormat>
  <Paragraphs>234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ACMFDS - Adaptive Context-Aware Multi-Objective Flight Decision Algorithm</dc:title>
  <dc:subject>Python/Ursina UAV simulation prototype and decision-layer design</dc:subject>
  <dc:creator>ACMFDS Project Team</dc:creator>
  <cp:keywords>ACMFDS, UAV, decision layer, multi-objective, path planning, simulation</cp:keywords>
  <dc:description>generated using python-pptx</dc:description>
  <cp:lastModifiedBy>VARUN POTNURU</cp:lastModifiedBy>
  <cp:revision>2</cp:revision>
  <dcterms:created xsi:type="dcterms:W3CDTF">2013-01-27T09:14:16Z</dcterms:created>
  <dcterms:modified xsi:type="dcterms:W3CDTF">2026-10-16T16:56:44Z</dcterms:modified>
  <cp:category/>
</cp:coreProperties>
</file>